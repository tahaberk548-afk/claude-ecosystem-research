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D13285-0C98-4648-9A51-393DA47F48C2}" type="datetimeFigureOut">
              <a:rPr lang="tr-TR" smtClean="0"/>
              <a:t>29.07.2026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BCF36-8556-4A8B-BB79-5A93D319A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419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DBCF36-8556-4A8B-BB79-5A93D319A8F8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4868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0CE0FEA-A609-43B9-9B05-C8BF4EA842E5}" type="datetimeFigureOut">
              <a:rPr lang="tr-TR" smtClean="0"/>
              <a:t>29.07.2026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312B83E-9D46-4C14-9424-6A61E517431C}" type="slidenum">
              <a:rPr lang="tr-TR" smtClean="0"/>
              <a:t>‹#›</a:t>
            </a:fld>
            <a:endParaRPr lang="tr-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82208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0FEA-A609-43B9-9B05-C8BF4EA842E5}" type="datetimeFigureOut">
              <a:rPr lang="tr-TR" smtClean="0"/>
              <a:t>29.07.2026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B83E-9D46-4C14-9424-6A61E51743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2816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0FEA-A609-43B9-9B05-C8BF4EA842E5}" type="datetimeFigureOut">
              <a:rPr lang="tr-TR" smtClean="0"/>
              <a:t>29.07.2026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B83E-9D46-4C14-9424-6A61E517431C}" type="slidenum">
              <a:rPr lang="tr-TR" smtClean="0"/>
              <a:t>‹#›</a:t>
            </a:fld>
            <a:endParaRPr lang="tr-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2645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0FEA-A609-43B9-9B05-C8BF4EA842E5}" type="datetimeFigureOut">
              <a:rPr lang="tr-TR" smtClean="0"/>
              <a:t>29.07.2026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B83E-9D46-4C14-9424-6A61E51743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431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0FEA-A609-43B9-9B05-C8BF4EA842E5}" type="datetimeFigureOut">
              <a:rPr lang="tr-TR" smtClean="0"/>
              <a:t>29.07.2026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B83E-9D46-4C14-9424-6A61E51743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6199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0FEA-A609-43B9-9B05-C8BF4EA842E5}" type="datetimeFigureOut">
              <a:rPr lang="tr-TR" smtClean="0"/>
              <a:t>29.07.2026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B83E-9D46-4C14-9424-6A61E51743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469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0FEA-A609-43B9-9B05-C8BF4EA842E5}" type="datetimeFigureOut">
              <a:rPr lang="tr-TR" smtClean="0"/>
              <a:t>29.07.2026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B83E-9D46-4C14-9424-6A61E51743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888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0FEA-A609-43B9-9B05-C8BF4EA842E5}" type="datetimeFigureOut">
              <a:rPr lang="tr-TR" smtClean="0"/>
              <a:t>29.07.2026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B83E-9D46-4C14-9424-6A61E51743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9885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0FEA-A609-43B9-9B05-C8BF4EA842E5}" type="datetimeFigureOut">
              <a:rPr lang="tr-TR" smtClean="0"/>
              <a:t>29.07.2026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B83E-9D46-4C14-9424-6A61E51743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016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0FEA-A609-43B9-9B05-C8BF4EA842E5}" type="datetimeFigureOut">
              <a:rPr lang="tr-TR" smtClean="0"/>
              <a:t>29.07.2026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B83E-9D46-4C14-9424-6A61E51743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781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0FEA-A609-43B9-9B05-C8BF4EA842E5}" type="datetimeFigureOut">
              <a:rPr lang="tr-TR" smtClean="0"/>
              <a:t>29.07.2026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B83E-9D46-4C14-9424-6A61E51743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3825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0CE0FEA-A609-43B9-9B05-C8BF4EA842E5}" type="datetimeFigureOut">
              <a:rPr lang="tr-TR" smtClean="0"/>
              <a:t>29.07.2026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312B83E-9D46-4C14-9424-6A61E51743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83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924987" y="-1535069"/>
            <a:ext cx="9418320" cy="4041648"/>
          </a:xfrm>
        </p:spPr>
        <p:txBody>
          <a:bodyPr/>
          <a:lstStyle/>
          <a:p>
            <a:r>
              <a:rPr lang="tr-TR" dirty="0" smtClean="0"/>
              <a:t>CLAUDE EKOSİSTEMİ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229788" y="3148264"/>
            <a:ext cx="9418320" cy="1691640"/>
          </a:xfrm>
        </p:spPr>
        <p:txBody>
          <a:bodyPr>
            <a:normAutofit fontScale="92500" lnSpcReduction="20000"/>
          </a:bodyPr>
          <a:lstStyle/>
          <a:p>
            <a:r>
              <a:rPr lang="tr-TR" dirty="0" err="1" smtClean="0"/>
              <a:t>Skill</a:t>
            </a:r>
            <a:endParaRPr lang="tr-TR" dirty="0" smtClean="0"/>
          </a:p>
          <a:p>
            <a:r>
              <a:rPr lang="tr-TR" dirty="0" smtClean="0"/>
              <a:t>MCP</a:t>
            </a:r>
          </a:p>
          <a:p>
            <a:r>
              <a:rPr lang="tr-TR" dirty="0" err="1" smtClean="0"/>
              <a:t>Promt</a:t>
            </a:r>
            <a:r>
              <a:rPr lang="tr-TR" dirty="0" smtClean="0"/>
              <a:t> Teknikleri</a:t>
            </a:r>
          </a:p>
          <a:p>
            <a:r>
              <a:rPr lang="tr-TR" dirty="0" err="1" smtClean="0"/>
              <a:t>Workflow</a:t>
            </a:r>
            <a:r>
              <a:rPr lang="tr-TR" dirty="0" smtClean="0"/>
              <a:t> Tasarımları</a:t>
            </a:r>
            <a:endParaRPr lang="tr-TR" dirty="0"/>
          </a:p>
        </p:txBody>
      </p:sp>
      <p:sp>
        <p:nvSpPr>
          <p:cNvPr id="4" name="Dikdörtgen 3"/>
          <p:cNvSpPr/>
          <p:nvPr/>
        </p:nvSpPr>
        <p:spPr>
          <a:xfrm>
            <a:off x="924987" y="5481589"/>
            <a:ext cx="38266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000" dirty="0" smtClean="0">
                <a:latin typeface="Bahnschrift SemiLight" panose="020B0502040204020203" pitchFamily="34" charset="0"/>
              </a:rPr>
              <a:t>Hazırlayan: Taha Berk İRGÖREN</a:t>
            </a:r>
            <a:endParaRPr lang="tr-TR" sz="20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72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3"/>
          <p:cNvSpPr>
            <a:spLocks noGrp="1"/>
          </p:cNvSpPr>
          <p:nvPr>
            <p:ph type="title"/>
          </p:nvPr>
        </p:nvSpPr>
        <p:spPr>
          <a:xfrm>
            <a:off x="1261872" y="190383"/>
            <a:ext cx="9692640" cy="1325562"/>
          </a:xfrm>
        </p:spPr>
        <p:txBody>
          <a:bodyPr/>
          <a:lstStyle/>
          <a:p>
            <a:r>
              <a:rPr lang="tr-TR" dirty="0" err="1"/>
              <a:t>Claude</a:t>
            </a:r>
            <a:r>
              <a:rPr lang="tr-TR" dirty="0"/>
              <a:t> Genel Bakış</a:t>
            </a:r>
          </a:p>
        </p:txBody>
      </p:sp>
      <p:sp>
        <p:nvSpPr>
          <p:cNvPr id="6" name="Dikdörtgen 5"/>
          <p:cNvSpPr/>
          <p:nvPr/>
        </p:nvSpPr>
        <p:spPr>
          <a:xfrm>
            <a:off x="812693" y="284059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2400" b="1" dirty="0" smtClean="0"/>
              <a:t>Temel Yetenekleri: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 smtClean="0"/>
              <a:t>Metin analizi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 smtClean="0"/>
              <a:t>Kod geliştirme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 smtClean="0"/>
              <a:t>Doküman oluşturma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 smtClean="0"/>
              <a:t>Veri değerlendirme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 smtClean="0"/>
              <a:t>Uzun içeriklerle çalışma </a:t>
            </a:r>
            <a:endParaRPr lang="tr-TR" sz="2400" dirty="0"/>
          </a:p>
        </p:txBody>
      </p:sp>
      <p:sp>
        <p:nvSpPr>
          <p:cNvPr id="7" name="Dikdörtgen 6"/>
          <p:cNvSpPr/>
          <p:nvPr/>
        </p:nvSpPr>
        <p:spPr>
          <a:xfrm>
            <a:off x="4858512" y="2840595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2400" b="1" dirty="0" smtClean="0"/>
              <a:t>Kurumsal Kullanım Alanları: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 smtClean="0"/>
              <a:t>Yazılım geliştirme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 smtClean="0"/>
              <a:t>Siber güvenlik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 smtClean="0"/>
              <a:t>Teknik dokümantasyon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 smtClean="0"/>
              <a:t>Müşteri hizmetleri</a:t>
            </a:r>
            <a:endParaRPr lang="tr-TR" sz="2400" dirty="0"/>
          </a:p>
        </p:txBody>
      </p:sp>
      <p:sp>
        <p:nvSpPr>
          <p:cNvPr id="11" name="Dikdörtgen 10"/>
          <p:cNvSpPr/>
          <p:nvPr/>
        </p:nvSpPr>
        <p:spPr>
          <a:xfrm>
            <a:off x="812693" y="165357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tr-TR" b="1" dirty="0" err="1"/>
              <a:t>Claude</a:t>
            </a:r>
            <a:r>
              <a:rPr lang="tr-TR" b="1" dirty="0"/>
              <a:t> nedir </a:t>
            </a:r>
          </a:p>
          <a:p>
            <a:pPr algn="ctr"/>
            <a:r>
              <a:rPr lang="tr-TR" dirty="0" err="1"/>
              <a:t>Claude</a:t>
            </a:r>
            <a:r>
              <a:rPr lang="tr-TR" dirty="0"/>
              <a:t>, </a:t>
            </a:r>
            <a:r>
              <a:rPr lang="tr-TR" dirty="0" err="1"/>
              <a:t>Anthropic</a:t>
            </a:r>
            <a:r>
              <a:rPr lang="tr-TR" dirty="0"/>
              <a:t> tarafından geliştirilen büyük dil modeli tabanlı yapay zekâ asistanıdır</a:t>
            </a:r>
            <a:r>
              <a:rPr lang="tr-TR" sz="1050" dirty="0" smtClean="0"/>
              <a:t>.</a:t>
            </a:r>
            <a:endParaRPr lang="tr-TR" sz="1050" dirty="0"/>
          </a:p>
        </p:txBody>
      </p:sp>
    </p:spTree>
    <p:extLst>
      <p:ext uri="{BB962C8B-B14F-4D97-AF65-F5344CB8AC3E}">
        <p14:creationId xmlns:p14="http://schemas.microsoft.com/office/powerpoint/2010/main" val="1885836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Claude</a:t>
            </a:r>
            <a:r>
              <a:rPr lang="tr-TR" dirty="0"/>
              <a:t> </a:t>
            </a:r>
            <a:r>
              <a:rPr lang="tr-TR" dirty="0" err="1"/>
              <a:t>Skill'leri</a:t>
            </a:r>
            <a:r>
              <a:rPr lang="tr-TR" dirty="0"/>
              <a:t> ve MCP</a:t>
            </a:r>
          </a:p>
        </p:txBody>
      </p:sp>
      <p:sp>
        <p:nvSpPr>
          <p:cNvPr id="5" name="Dikdörtgen 4"/>
          <p:cNvSpPr/>
          <p:nvPr/>
        </p:nvSpPr>
        <p:spPr>
          <a:xfrm>
            <a:off x="267262" y="188137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 err="1" smtClean="0"/>
              <a:t>Skill</a:t>
            </a:r>
            <a:r>
              <a:rPr lang="tr-TR" b="1" dirty="0" smtClean="0"/>
              <a:t> Nedir?</a:t>
            </a:r>
          </a:p>
          <a:p>
            <a:r>
              <a:rPr lang="tr-TR" dirty="0" err="1" smtClean="0"/>
              <a:t>Skill'ler</a:t>
            </a:r>
            <a:r>
              <a:rPr lang="tr-TR" dirty="0" smtClean="0"/>
              <a:t>, </a:t>
            </a:r>
            <a:r>
              <a:rPr lang="tr-TR" dirty="0" err="1" smtClean="0"/>
              <a:t>Claude'un</a:t>
            </a:r>
            <a:r>
              <a:rPr lang="tr-TR" dirty="0" smtClean="0"/>
              <a:t> belirli görevleri daha verimli gerçekleştirmesini sağlayan yeteneklerdir.</a:t>
            </a:r>
            <a:endParaRPr lang="tr-TR" dirty="0"/>
          </a:p>
        </p:txBody>
      </p:sp>
      <p:sp>
        <p:nvSpPr>
          <p:cNvPr id="6" name="Dikdörtgen 5"/>
          <p:cNvSpPr/>
          <p:nvPr/>
        </p:nvSpPr>
        <p:spPr>
          <a:xfrm>
            <a:off x="267262" y="289717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 smtClean="0"/>
              <a:t>Örnek: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PDF analiz etme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Word dokümanı oluşturma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Excel veri işleme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Sunum hazırlama</a:t>
            </a:r>
            <a:endParaRPr lang="tr-TR" dirty="0"/>
          </a:p>
        </p:txBody>
      </p:sp>
      <p:sp>
        <p:nvSpPr>
          <p:cNvPr id="7" name="Dikdörtgen 6"/>
          <p:cNvSpPr/>
          <p:nvPr/>
        </p:nvSpPr>
        <p:spPr>
          <a:xfrm>
            <a:off x="5791200" y="1881372"/>
            <a:ext cx="449179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/>
              <a:t>MCP (Model </a:t>
            </a:r>
            <a:r>
              <a:rPr lang="tr-TR" b="1" dirty="0" err="1" smtClean="0"/>
              <a:t>Context</a:t>
            </a:r>
            <a:r>
              <a:rPr lang="tr-TR" b="1" dirty="0" smtClean="0"/>
              <a:t> Protocol)</a:t>
            </a:r>
          </a:p>
          <a:p>
            <a:r>
              <a:rPr lang="tr-TR" dirty="0" smtClean="0"/>
              <a:t>MCP, </a:t>
            </a:r>
            <a:r>
              <a:rPr lang="tr-TR" dirty="0" err="1" smtClean="0"/>
              <a:t>Claude'un</a:t>
            </a:r>
            <a:r>
              <a:rPr lang="tr-TR" dirty="0" smtClean="0"/>
              <a:t> dış sistemlere bağlanmasını sağlayan iletişim protokolüdür.</a:t>
            </a:r>
          </a:p>
          <a:p>
            <a:r>
              <a:rPr lang="tr-TR" dirty="0" smtClean="0"/>
              <a:t>Bağlanabileceği kaynaklar: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Dosya sistemleri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 smtClean="0"/>
              <a:t>Veritabanları</a:t>
            </a:r>
            <a:r>
              <a:rPr lang="tr-TR" dirty="0" smtClean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API servisleri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Proje yönetim araçları</a:t>
            </a:r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 rot="16200000">
            <a:off x="3779757" y="1900564"/>
            <a:ext cx="2069432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tr-TR" dirty="0" smtClean="0"/>
          </a:p>
          <a:p>
            <a:pPr algn="ctr"/>
            <a:r>
              <a:rPr lang="tr-TR" dirty="0" smtClean="0"/>
              <a:t>↓</a:t>
            </a:r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r>
              <a:rPr lang="tr-TR" dirty="0" smtClean="0"/>
              <a:t>↓</a:t>
            </a:r>
          </a:p>
          <a:p>
            <a:pPr algn="ctr"/>
            <a:endParaRPr lang="tr-TR" dirty="0" smtClean="0"/>
          </a:p>
          <a:p>
            <a:pPr algn="ctr"/>
            <a:r>
              <a:rPr lang="tr-TR" dirty="0" smtClean="0"/>
              <a:t>    </a:t>
            </a:r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endParaRPr lang="tr-TR" dirty="0" smtClean="0"/>
          </a:p>
          <a:p>
            <a:pPr algn="ctr"/>
            <a:r>
              <a:rPr lang="tr-TR" dirty="0" smtClean="0"/>
              <a:t>↓</a:t>
            </a:r>
          </a:p>
          <a:p>
            <a:pPr algn="ctr"/>
            <a:endParaRPr lang="tr-TR" dirty="0" smtClean="0"/>
          </a:p>
        </p:txBody>
      </p:sp>
      <p:sp>
        <p:nvSpPr>
          <p:cNvPr id="9" name="Dikdörtgen 8"/>
          <p:cNvSpPr/>
          <p:nvPr/>
        </p:nvSpPr>
        <p:spPr>
          <a:xfrm>
            <a:off x="300778" y="5235416"/>
            <a:ext cx="1266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err="1" smtClean="0"/>
              <a:t>Claude</a:t>
            </a:r>
            <a:r>
              <a:rPr lang="tr-TR" dirty="0" smtClean="0"/>
              <a:t> AI</a:t>
            </a:r>
            <a:endParaRPr lang="tr-TR" dirty="0"/>
          </a:p>
        </p:txBody>
      </p:sp>
      <p:sp>
        <p:nvSpPr>
          <p:cNvPr id="10" name="Dikdörtgen 9"/>
          <p:cNvSpPr/>
          <p:nvPr/>
        </p:nvSpPr>
        <p:spPr>
          <a:xfrm>
            <a:off x="2325378" y="5224550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smtClean="0"/>
              <a:t>MCP Server</a:t>
            </a:r>
            <a:endParaRPr lang="tr-TR" dirty="0"/>
          </a:p>
        </p:txBody>
      </p:sp>
      <p:sp>
        <p:nvSpPr>
          <p:cNvPr id="11" name="Dikdörtgen 10"/>
          <p:cNvSpPr/>
          <p:nvPr/>
        </p:nvSpPr>
        <p:spPr>
          <a:xfrm>
            <a:off x="4837652" y="5224550"/>
            <a:ext cx="2541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err="1" smtClean="0"/>
              <a:t>PostgreSQL</a:t>
            </a:r>
            <a:r>
              <a:rPr lang="tr-TR" dirty="0" smtClean="0"/>
              <a:t> Database</a:t>
            </a:r>
            <a:endParaRPr lang="tr-TR" dirty="0"/>
          </a:p>
        </p:txBody>
      </p:sp>
      <p:sp>
        <p:nvSpPr>
          <p:cNvPr id="12" name="Dikdörtgen 11"/>
          <p:cNvSpPr/>
          <p:nvPr/>
        </p:nvSpPr>
        <p:spPr>
          <a:xfrm>
            <a:off x="8694821" y="5167911"/>
            <a:ext cx="1468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smtClean="0"/>
              <a:t>Veri Analizi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5758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Prompt</a:t>
            </a:r>
            <a:r>
              <a:rPr lang="tr-TR" dirty="0"/>
              <a:t> Teknikleri</a:t>
            </a:r>
          </a:p>
        </p:txBody>
      </p:sp>
      <p:sp>
        <p:nvSpPr>
          <p:cNvPr id="5" name="Dikdörtgen 4"/>
          <p:cNvSpPr/>
          <p:nvPr/>
        </p:nvSpPr>
        <p:spPr>
          <a:xfrm>
            <a:off x="427683" y="205761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 smtClean="0"/>
              <a:t>Zero-</a:t>
            </a:r>
            <a:r>
              <a:rPr lang="tr-TR" b="1" dirty="0" err="1" smtClean="0"/>
              <a:t>Shot</a:t>
            </a:r>
            <a:r>
              <a:rPr lang="tr-TR" b="1" dirty="0" smtClean="0"/>
              <a:t> </a:t>
            </a:r>
            <a:r>
              <a:rPr lang="tr-TR" b="1" dirty="0" err="1" smtClean="0"/>
              <a:t>Prompt</a:t>
            </a:r>
            <a:endParaRPr lang="tr-TR" b="1" dirty="0" smtClean="0"/>
          </a:p>
          <a:p>
            <a:r>
              <a:rPr lang="tr-TR" dirty="0" smtClean="0"/>
              <a:t>Ek örnek vermeden doğrudan</a:t>
            </a:r>
          </a:p>
          <a:p>
            <a:r>
              <a:rPr lang="tr-TR" dirty="0" smtClean="0"/>
              <a:t>görev verme yöntemidir.</a:t>
            </a:r>
            <a:endParaRPr lang="tr-TR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27683" y="3369989"/>
            <a:ext cx="497283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Kullanılan </a:t>
            </a:r>
            <a:r>
              <a:rPr kumimoji="0" lang="tr-TR" altLang="tr-T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</a:t>
            </a: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CVE-2026-1234 güvenlik açığını analiz 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Açığın türünü,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risk seviyesini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ve çözüm önerisini belirt.</a:t>
            </a: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Dikdörtgen 6"/>
          <p:cNvSpPr/>
          <p:nvPr/>
        </p:nvSpPr>
        <p:spPr>
          <a:xfrm>
            <a:off x="427683" y="523960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 smtClean="0"/>
              <a:t>Sonuç: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Genel analiz üretir.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Format kontrolü düşüktür.</a:t>
            </a:r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>
            <a:off x="5400519" y="195472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 err="1" smtClean="0"/>
              <a:t>Few-Shot</a:t>
            </a:r>
            <a:r>
              <a:rPr lang="tr-TR" b="1" dirty="0" smtClean="0"/>
              <a:t> </a:t>
            </a:r>
            <a:r>
              <a:rPr lang="tr-TR" b="1" dirty="0" err="1" smtClean="0"/>
              <a:t>Prompt</a:t>
            </a:r>
            <a:endParaRPr lang="tr-TR" b="1" dirty="0" smtClean="0"/>
          </a:p>
          <a:p>
            <a:r>
              <a:rPr lang="tr-TR" dirty="0" smtClean="0"/>
              <a:t>Modele örnek çıktı göstererek yönlendirme yapılır.</a:t>
            </a:r>
            <a:endParaRPr lang="tr-TR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400519" y="2745434"/>
            <a:ext cx="377218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Kullanılan </a:t>
            </a:r>
            <a:r>
              <a:rPr kumimoji="0" lang="tr-TR" altLang="tr-T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</a:t>
            </a: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Aşağıdaki örnek formatı kullan.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Örnek: CVE: CVE-2025-1234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Risk: Yüksek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Açıklama: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Uzaktan kod çalıştırma açığı.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Çözüm: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Güncelleme uygulanmalı.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Yeni CVE: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CVE-2026-1234 analiz et.</a:t>
            </a: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5400519" y="593467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 smtClean="0"/>
              <a:t>Sonuç: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Daha düzenli çıktı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Daha tutarlı analiz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6975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XML Yapılı </a:t>
            </a:r>
            <a:r>
              <a:rPr lang="tr-TR" dirty="0" err="1"/>
              <a:t>Prompt</a:t>
            </a:r>
            <a:r>
              <a:rPr lang="tr-TR" dirty="0"/>
              <a:t> Tasarımı</a:t>
            </a:r>
          </a:p>
        </p:txBody>
      </p:sp>
      <p:sp>
        <p:nvSpPr>
          <p:cNvPr id="5" name="Dikdörtgen 4"/>
          <p:cNvSpPr/>
          <p:nvPr/>
        </p:nvSpPr>
        <p:spPr>
          <a:xfrm>
            <a:off x="433137" y="169132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 smtClean="0"/>
              <a:t>Yapılandırılmış </a:t>
            </a:r>
            <a:r>
              <a:rPr lang="tr-TR" b="1" dirty="0" err="1" smtClean="0"/>
              <a:t>Prompt</a:t>
            </a:r>
            <a:endParaRPr lang="tr-TR" b="1" dirty="0" smtClean="0"/>
          </a:p>
          <a:p>
            <a:r>
              <a:rPr lang="tr-TR" dirty="0" smtClean="0"/>
              <a:t>XML etiketleri kullanılarak çıktı formatı kontrol edilir.</a:t>
            </a:r>
            <a:endParaRPr lang="tr-TR" dirty="0"/>
          </a:p>
        </p:txBody>
      </p:sp>
      <p:sp>
        <p:nvSpPr>
          <p:cNvPr id="6" name="Dikdörtgen 5"/>
          <p:cNvSpPr/>
          <p:nvPr/>
        </p:nvSpPr>
        <p:spPr>
          <a:xfrm>
            <a:off x="433137" y="2418467"/>
            <a:ext cx="2260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smtClean="0"/>
              <a:t>Kullanılan </a:t>
            </a:r>
            <a:r>
              <a:rPr lang="tr-TR" dirty="0" err="1" smtClean="0"/>
              <a:t>Prompt</a:t>
            </a:r>
            <a:r>
              <a:rPr lang="tr-TR" dirty="0" smtClean="0"/>
              <a:t>:</a:t>
            </a:r>
            <a:endParaRPr lang="tr-TR" dirty="0"/>
          </a:p>
        </p:txBody>
      </p:sp>
      <p:sp>
        <p:nvSpPr>
          <p:cNvPr id="7" name="Dikdörtgen 6"/>
          <p:cNvSpPr/>
          <p:nvPr/>
        </p:nvSpPr>
        <p:spPr>
          <a:xfrm>
            <a:off x="2693692" y="2418467"/>
            <a:ext cx="4892842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dirty="0" smtClean="0"/>
              <a:t>&lt;</a:t>
            </a:r>
            <a:r>
              <a:rPr lang="tr-TR" sz="1400" dirty="0" err="1" smtClean="0"/>
              <a:t>cve_analysis</a:t>
            </a:r>
            <a:r>
              <a:rPr lang="tr-TR" sz="1400" dirty="0" smtClean="0"/>
              <a:t>&gt;</a:t>
            </a:r>
          </a:p>
          <a:p>
            <a:r>
              <a:rPr lang="tr-TR" sz="1400" dirty="0" smtClean="0"/>
              <a:t>&lt;</a:t>
            </a:r>
            <a:r>
              <a:rPr lang="tr-TR" sz="1400" dirty="0" err="1" smtClean="0"/>
              <a:t>cve_id</a:t>
            </a:r>
            <a:r>
              <a:rPr lang="tr-TR" sz="1400" dirty="0" smtClean="0"/>
              <a:t>&gt;</a:t>
            </a:r>
          </a:p>
          <a:p>
            <a:r>
              <a:rPr lang="tr-TR" sz="1400" dirty="0" smtClean="0"/>
              <a:t>CVE-2026-1234</a:t>
            </a:r>
          </a:p>
          <a:p>
            <a:r>
              <a:rPr lang="tr-TR" sz="1400" dirty="0" smtClean="0"/>
              <a:t>&lt;/</a:t>
            </a:r>
            <a:r>
              <a:rPr lang="tr-TR" sz="1400" dirty="0" err="1" smtClean="0"/>
              <a:t>cve_id</a:t>
            </a:r>
            <a:r>
              <a:rPr lang="tr-TR" sz="1400" dirty="0" smtClean="0"/>
              <a:t>&gt;</a:t>
            </a:r>
          </a:p>
          <a:p>
            <a:r>
              <a:rPr lang="tr-TR" sz="1400" dirty="0" smtClean="0"/>
              <a:t>&lt;</a:t>
            </a:r>
            <a:r>
              <a:rPr lang="tr-TR" sz="1400" dirty="0" err="1" smtClean="0"/>
              <a:t>task</a:t>
            </a:r>
            <a:r>
              <a:rPr lang="tr-TR" sz="1400" dirty="0" smtClean="0"/>
              <a:t>&gt;</a:t>
            </a:r>
          </a:p>
          <a:p>
            <a:r>
              <a:rPr lang="tr-TR" sz="1400" dirty="0" smtClean="0"/>
              <a:t>Güvenlik açığını analiz et.</a:t>
            </a:r>
          </a:p>
          <a:p>
            <a:r>
              <a:rPr lang="tr-TR" sz="1400" dirty="0" smtClean="0"/>
              <a:t>&lt;/</a:t>
            </a:r>
            <a:r>
              <a:rPr lang="tr-TR" sz="1400" dirty="0" err="1" smtClean="0"/>
              <a:t>task</a:t>
            </a:r>
            <a:r>
              <a:rPr lang="tr-TR" sz="1400" dirty="0" smtClean="0"/>
              <a:t>&gt;</a:t>
            </a:r>
          </a:p>
          <a:p>
            <a:r>
              <a:rPr lang="tr-TR" sz="1400" dirty="0" smtClean="0"/>
              <a:t>&lt;</a:t>
            </a:r>
            <a:r>
              <a:rPr lang="tr-TR" sz="1400" dirty="0" err="1" smtClean="0"/>
              <a:t>output</a:t>
            </a:r>
            <a:r>
              <a:rPr lang="tr-TR" sz="1400" dirty="0" smtClean="0"/>
              <a:t>&gt;</a:t>
            </a:r>
          </a:p>
          <a:p>
            <a:r>
              <a:rPr lang="tr-TR" sz="1400" dirty="0" smtClean="0"/>
              <a:t>&lt;</a:t>
            </a:r>
            <a:r>
              <a:rPr lang="tr-TR" sz="1400" dirty="0" err="1" smtClean="0"/>
              <a:t>risk_level</a:t>
            </a:r>
            <a:r>
              <a:rPr lang="tr-TR" sz="1400" dirty="0" smtClean="0"/>
              <a:t>&gt;</a:t>
            </a:r>
          </a:p>
          <a:p>
            <a:r>
              <a:rPr lang="tr-TR" sz="1400" dirty="0" smtClean="0"/>
              <a:t>Risk seviyesini belirt.</a:t>
            </a:r>
          </a:p>
          <a:p>
            <a:r>
              <a:rPr lang="tr-TR" sz="1400" dirty="0" smtClean="0"/>
              <a:t>&lt;/</a:t>
            </a:r>
            <a:r>
              <a:rPr lang="tr-TR" sz="1400" dirty="0" err="1" smtClean="0"/>
              <a:t>risk_level</a:t>
            </a:r>
            <a:r>
              <a:rPr lang="tr-TR" sz="1400" dirty="0" smtClean="0"/>
              <a:t>&gt;</a:t>
            </a:r>
          </a:p>
          <a:p>
            <a:r>
              <a:rPr lang="tr-TR" sz="1400" dirty="0" smtClean="0"/>
              <a:t>&lt;</a:t>
            </a:r>
            <a:r>
              <a:rPr lang="tr-TR" sz="1400" dirty="0" err="1" smtClean="0"/>
              <a:t>description</a:t>
            </a:r>
            <a:r>
              <a:rPr lang="tr-TR" sz="1400" dirty="0" smtClean="0"/>
              <a:t>&gt;</a:t>
            </a:r>
          </a:p>
          <a:p>
            <a:r>
              <a:rPr lang="tr-TR" sz="1400" dirty="0" smtClean="0"/>
              <a:t>Açıklama oluştur.</a:t>
            </a:r>
          </a:p>
          <a:p>
            <a:r>
              <a:rPr lang="tr-TR" sz="1400" dirty="0" smtClean="0"/>
              <a:t>&lt;/</a:t>
            </a:r>
            <a:r>
              <a:rPr lang="tr-TR" sz="1400" dirty="0" err="1" smtClean="0"/>
              <a:t>description</a:t>
            </a:r>
            <a:r>
              <a:rPr lang="tr-TR" sz="1400" dirty="0" smtClean="0"/>
              <a:t>&gt;</a:t>
            </a:r>
          </a:p>
          <a:p>
            <a:r>
              <a:rPr lang="tr-TR" sz="1400" dirty="0" smtClean="0"/>
              <a:t>&lt;</a:t>
            </a:r>
            <a:r>
              <a:rPr lang="tr-TR" sz="1400" dirty="0" err="1" smtClean="0"/>
              <a:t>solution</a:t>
            </a:r>
            <a:r>
              <a:rPr lang="tr-TR" sz="1400" dirty="0" smtClean="0"/>
              <a:t>&gt;</a:t>
            </a:r>
          </a:p>
          <a:p>
            <a:r>
              <a:rPr lang="tr-TR" sz="1400" dirty="0" smtClean="0"/>
              <a:t>Çözüm önerisi ver.</a:t>
            </a:r>
          </a:p>
          <a:p>
            <a:r>
              <a:rPr lang="tr-TR" sz="1400" dirty="0" smtClean="0"/>
              <a:t>&lt;/</a:t>
            </a:r>
            <a:r>
              <a:rPr lang="tr-TR" sz="1400" dirty="0" err="1" smtClean="0"/>
              <a:t>solution</a:t>
            </a:r>
            <a:r>
              <a:rPr lang="tr-TR" sz="1400" dirty="0" smtClean="0"/>
              <a:t>&gt;</a:t>
            </a:r>
          </a:p>
          <a:p>
            <a:r>
              <a:rPr lang="tr-TR" sz="1400" dirty="0" smtClean="0"/>
              <a:t>&lt;/</a:t>
            </a:r>
            <a:r>
              <a:rPr lang="tr-TR" sz="1400" dirty="0" err="1" smtClean="0"/>
              <a:t>output</a:t>
            </a:r>
            <a:r>
              <a:rPr lang="tr-TR" sz="1400" dirty="0" smtClean="0"/>
              <a:t>&gt;</a:t>
            </a:r>
          </a:p>
          <a:p>
            <a:r>
              <a:rPr lang="tr-TR" sz="1400" dirty="0" smtClean="0"/>
              <a:t>&lt;/</a:t>
            </a:r>
            <a:r>
              <a:rPr lang="tr-TR" sz="1400" dirty="0" err="1" smtClean="0"/>
              <a:t>cve_analysis</a:t>
            </a:r>
            <a:r>
              <a:rPr lang="tr-TR" sz="1400" dirty="0" smtClean="0"/>
              <a:t>&gt;</a:t>
            </a:r>
            <a:endParaRPr lang="tr-TR" sz="1400" dirty="0"/>
          </a:p>
        </p:txBody>
      </p:sp>
      <p:sp>
        <p:nvSpPr>
          <p:cNvPr id="8" name="Dikdörtgen 7"/>
          <p:cNvSpPr/>
          <p:nvPr/>
        </p:nvSpPr>
        <p:spPr>
          <a:xfrm>
            <a:off x="5277853" y="540389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 smtClean="0"/>
              <a:t>Avantajları: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Otomasyona uygun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Daha düzenli çıktı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API sistemleriyle kolay entegrasyon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61028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Workflow</a:t>
            </a:r>
            <a:r>
              <a:rPr lang="tr-TR" dirty="0"/>
              <a:t> ve </a:t>
            </a:r>
            <a:r>
              <a:rPr lang="tr-TR" dirty="0" err="1"/>
              <a:t>Prototype</a:t>
            </a:r>
            <a:r>
              <a:rPr lang="tr-TR" dirty="0"/>
              <a:t> Demo</a:t>
            </a:r>
          </a:p>
        </p:txBody>
      </p:sp>
      <p:sp>
        <p:nvSpPr>
          <p:cNvPr id="5" name="Dikdörtgen 4"/>
          <p:cNvSpPr/>
          <p:nvPr/>
        </p:nvSpPr>
        <p:spPr>
          <a:xfrm>
            <a:off x="864018" y="1691322"/>
            <a:ext cx="2528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smtClean="0"/>
              <a:t>CVE Analiz </a:t>
            </a:r>
            <a:r>
              <a:rPr lang="tr-TR" dirty="0" err="1" smtClean="0"/>
              <a:t>Workflow</a:t>
            </a:r>
            <a:endParaRPr lang="tr-TR" dirty="0"/>
          </a:p>
        </p:txBody>
      </p:sp>
      <p:sp>
        <p:nvSpPr>
          <p:cNvPr id="6" name="Dikdörtgen 5"/>
          <p:cNvSpPr/>
          <p:nvPr/>
        </p:nvSpPr>
        <p:spPr>
          <a:xfrm>
            <a:off x="1261872" y="2319187"/>
            <a:ext cx="173254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mtClean="0"/>
              <a:t>NVD API</a:t>
            </a:r>
          </a:p>
          <a:p>
            <a:pPr algn="ctr"/>
            <a:r>
              <a:rPr lang="tr-TR" smtClean="0"/>
              <a:t>↓</a:t>
            </a:r>
          </a:p>
          <a:p>
            <a:pPr algn="ctr"/>
            <a:r>
              <a:rPr lang="tr-TR" smtClean="0"/>
              <a:t>Data Collector</a:t>
            </a:r>
          </a:p>
          <a:p>
            <a:pPr algn="ctr"/>
            <a:r>
              <a:rPr lang="tr-TR" smtClean="0"/>
              <a:t>↓</a:t>
            </a:r>
          </a:p>
          <a:p>
            <a:pPr algn="ctr"/>
            <a:r>
              <a:rPr lang="tr-TR" smtClean="0"/>
              <a:t>PostgreSQL</a:t>
            </a:r>
          </a:p>
          <a:p>
            <a:pPr algn="ctr"/>
            <a:r>
              <a:rPr lang="tr-TR" smtClean="0"/>
              <a:t>↓</a:t>
            </a:r>
          </a:p>
          <a:p>
            <a:pPr algn="ctr"/>
            <a:r>
              <a:rPr lang="tr-TR" smtClean="0"/>
              <a:t>Claude AI</a:t>
            </a:r>
          </a:p>
          <a:p>
            <a:pPr algn="ctr"/>
            <a:r>
              <a:rPr lang="tr-TR" smtClean="0"/>
              <a:t>↓</a:t>
            </a:r>
          </a:p>
          <a:p>
            <a:pPr algn="ctr"/>
            <a:r>
              <a:rPr lang="tr-TR" smtClean="0"/>
              <a:t>Risk Analizi</a:t>
            </a:r>
          </a:p>
          <a:p>
            <a:pPr algn="ctr"/>
            <a:r>
              <a:rPr lang="tr-TR" smtClean="0"/>
              <a:t>↓</a:t>
            </a:r>
          </a:p>
          <a:p>
            <a:pPr algn="ctr"/>
            <a:r>
              <a:rPr lang="tr-TR" smtClean="0"/>
              <a:t>Bildirim</a:t>
            </a:r>
            <a:endParaRPr lang="tr-TR" dirty="0"/>
          </a:p>
        </p:txBody>
      </p:sp>
      <p:sp>
        <p:nvSpPr>
          <p:cNvPr id="7" name="Dikdörtgen 6"/>
          <p:cNvSpPr/>
          <p:nvPr/>
        </p:nvSpPr>
        <p:spPr>
          <a:xfrm>
            <a:off x="4100370" y="2467274"/>
            <a:ext cx="21515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dirty="0" err="1" smtClean="0"/>
              <a:t>Prototype</a:t>
            </a:r>
            <a:r>
              <a:rPr lang="tr-TR" dirty="0" smtClean="0"/>
              <a:t> </a:t>
            </a:r>
            <a:r>
              <a:rPr lang="tr-TR" dirty="0" err="1" smtClean="0"/>
              <a:t>Prompt</a:t>
            </a:r>
            <a:r>
              <a:rPr lang="tr-TR" dirty="0" smtClean="0"/>
              <a:t>:</a:t>
            </a:r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>
            <a:off x="2128146" y="294705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tr-TR" dirty="0" smtClean="0"/>
              <a:t>Aşağıdaki CVE kaydını analiz et:</a:t>
            </a:r>
          </a:p>
          <a:p>
            <a:pPr algn="ctr"/>
            <a:r>
              <a:rPr lang="tr-TR" dirty="0" smtClean="0"/>
              <a:t>CVE-2026-1234</a:t>
            </a:r>
          </a:p>
          <a:p>
            <a:pPr algn="ctr"/>
            <a:r>
              <a:rPr lang="tr-TR" dirty="0" smtClean="0"/>
              <a:t>Risk seviyesini,</a:t>
            </a:r>
          </a:p>
          <a:p>
            <a:pPr algn="ctr"/>
            <a:r>
              <a:rPr lang="tr-TR" dirty="0" smtClean="0"/>
              <a:t>açıklamasını</a:t>
            </a:r>
          </a:p>
          <a:p>
            <a:pPr algn="ctr"/>
            <a:r>
              <a:rPr lang="tr-TR" dirty="0" smtClean="0"/>
              <a:t>ve çözüm önerisini belirt.</a:t>
            </a:r>
            <a:endParaRPr lang="tr-TR" dirty="0"/>
          </a:p>
        </p:txBody>
      </p:sp>
      <p:sp>
        <p:nvSpPr>
          <p:cNvPr id="9" name="Dikdörtgen 8"/>
          <p:cNvSpPr/>
          <p:nvPr/>
        </p:nvSpPr>
        <p:spPr>
          <a:xfrm>
            <a:off x="7553625" y="2319187"/>
            <a:ext cx="31282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/>
              <a:t>Demo Teknolojileri: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 smtClean="0"/>
              <a:t>Python</a:t>
            </a:r>
            <a:r>
              <a:rPr lang="tr-TR" dirty="0" smtClean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 smtClean="0"/>
              <a:t>FastAPI</a:t>
            </a:r>
            <a:r>
              <a:rPr lang="tr-TR" dirty="0" smtClean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 smtClean="0"/>
              <a:t>Claude</a:t>
            </a:r>
            <a:r>
              <a:rPr lang="tr-TR" dirty="0" smtClean="0"/>
              <a:t> API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 smtClean="0"/>
              <a:t>Prompt</a:t>
            </a:r>
            <a:r>
              <a:rPr lang="tr-TR" dirty="0" smtClean="0"/>
              <a:t> </a:t>
            </a:r>
            <a:r>
              <a:rPr lang="tr-TR" dirty="0" err="1" smtClean="0"/>
              <a:t>Engineering</a:t>
            </a:r>
            <a:endParaRPr lang="tr-TR" dirty="0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7553625" y="4135722"/>
            <a:ext cx="231602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Demo:</a:t>
            </a: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POST /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analyze</a:t>
            </a: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CVE-2026-1234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Output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Risk Analizi</a:t>
            </a: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97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 ve Değerlendirme</a:t>
            </a:r>
          </a:p>
        </p:txBody>
      </p:sp>
      <p:sp>
        <p:nvSpPr>
          <p:cNvPr id="4" name="Dikdörtgen 3"/>
          <p:cNvSpPr/>
          <p:nvPr/>
        </p:nvSpPr>
        <p:spPr>
          <a:xfrm>
            <a:off x="1261872" y="376515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smtClean="0"/>
              <a:t>Dikkat Edilmesi Gerekenler: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mtClean="0"/>
              <a:t>Veri gizliliği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mtClean="0"/>
              <a:t>İnsan kontrolü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mtClean="0"/>
              <a:t>Doğrulama gerekliliği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mtClean="0"/>
              <a:t>Güvenli entegrasyon</a:t>
            </a:r>
            <a:endParaRPr lang="tr-TR" dirty="0"/>
          </a:p>
        </p:txBody>
      </p:sp>
      <p:sp>
        <p:nvSpPr>
          <p:cNvPr id="5" name="Dikdörtgen 4"/>
          <p:cNvSpPr/>
          <p:nvPr/>
        </p:nvSpPr>
        <p:spPr>
          <a:xfrm>
            <a:off x="1261872" y="20807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 smtClean="0"/>
              <a:t>Kazanımlar: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İş süreçlerinde hız artışı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Otomatik analiz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Standart çıktı üretimi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Daha kolay dokümantasyon</a:t>
            </a:r>
            <a:endParaRPr lang="tr-TR" dirty="0"/>
          </a:p>
        </p:txBody>
      </p:sp>
      <p:sp>
        <p:nvSpPr>
          <p:cNvPr id="6" name="Dikdörtgen 5"/>
          <p:cNvSpPr/>
          <p:nvPr/>
        </p:nvSpPr>
        <p:spPr>
          <a:xfrm>
            <a:off x="5213395" y="2080736"/>
            <a:ext cx="894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smtClean="0"/>
              <a:t>Sonuç:</a:t>
            </a:r>
            <a:endParaRPr lang="tr-TR" dirty="0"/>
          </a:p>
        </p:txBody>
      </p:sp>
      <p:sp>
        <p:nvSpPr>
          <p:cNvPr id="7" name="Dikdörtgen 6"/>
          <p:cNvSpPr/>
          <p:nvPr/>
        </p:nvSpPr>
        <p:spPr>
          <a:xfrm>
            <a:off x="5213395" y="265716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tr-TR" dirty="0" err="1" smtClean="0"/>
              <a:t>Claude</a:t>
            </a:r>
            <a:r>
              <a:rPr lang="tr-TR" dirty="0" smtClean="0"/>
              <a:t>; </a:t>
            </a:r>
            <a:r>
              <a:rPr lang="tr-TR" dirty="0" err="1" smtClean="0"/>
              <a:t>Skill</a:t>
            </a:r>
            <a:r>
              <a:rPr lang="tr-TR" dirty="0" smtClean="0"/>
              <a:t>, MCP ve doğru </a:t>
            </a:r>
            <a:r>
              <a:rPr lang="tr-TR" dirty="0" err="1" smtClean="0"/>
              <a:t>prompt</a:t>
            </a:r>
            <a:r>
              <a:rPr lang="tr-TR" dirty="0" smtClean="0"/>
              <a:t> teknikleri ile kurum içerisinde güçlü bir yapay zekâ destek sistemi olarak kullanılabilir.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5081910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TM03457515[[fn=Manzara]]</Template>
  <TotalTime>20</TotalTime>
  <Words>422</Words>
  <Application>Microsoft Office PowerPoint</Application>
  <PresentationFormat>Geniş ekran</PresentationFormat>
  <Paragraphs>161</Paragraphs>
  <Slides>7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4" baseType="lpstr">
      <vt:lpstr>Arial</vt:lpstr>
      <vt:lpstr>Arial Unicode MS</vt:lpstr>
      <vt:lpstr>Bahnschrift SemiLight</vt:lpstr>
      <vt:lpstr>Calibri</vt:lpstr>
      <vt:lpstr>Century Schoolbook</vt:lpstr>
      <vt:lpstr>Wingdings 2</vt:lpstr>
      <vt:lpstr>View</vt:lpstr>
      <vt:lpstr>CLAUDE EKOSİSTEMİ</vt:lpstr>
      <vt:lpstr>Claude Genel Bakış</vt:lpstr>
      <vt:lpstr>Claude Skill'leri ve MCP</vt:lpstr>
      <vt:lpstr>Prompt Teknikleri</vt:lpstr>
      <vt:lpstr>XML Yapılı Prompt Tasarımı</vt:lpstr>
      <vt:lpstr>Workflow ve Prototype Demo</vt:lpstr>
      <vt:lpstr>Sonuç ve Değerlendirme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EKOSİSTEMİ</dc:title>
  <dc:creator>TAHA BERK</dc:creator>
  <cp:lastModifiedBy>TAHA BERK</cp:lastModifiedBy>
  <cp:revision>3</cp:revision>
  <dcterms:created xsi:type="dcterms:W3CDTF">2026-07-29T15:53:55Z</dcterms:created>
  <dcterms:modified xsi:type="dcterms:W3CDTF">2026-07-29T16:14:21Z</dcterms:modified>
</cp:coreProperties>
</file>